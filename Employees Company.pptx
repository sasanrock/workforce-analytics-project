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3F0DA6-5243-514B-87BF-5F9F11D9B340}">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87"/>
  </p:normalViewPr>
  <p:slideViewPr>
    <p:cSldViewPr snapToGrid="0">
      <p:cViewPr varScale="1">
        <p:scale>
          <a:sx n="88" d="100"/>
          <a:sy n="88" d="100"/>
        </p:scale>
        <p:origin x="208"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Weekly Work</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F88A-AA49-A18F-65F240302DF6}"/>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F88A-AA49-A18F-65F240302DF6}"/>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F88A-AA49-A18F-65F240302DF6}"/>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Sheet1!$A$2:$A$4</c:f>
              <c:strCache>
                <c:ptCount val="3"/>
                <c:pt idx="0">
                  <c:v>Over Worked</c:v>
                </c:pt>
                <c:pt idx="1">
                  <c:v>Ideal</c:v>
                </c:pt>
                <c:pt idx="2">
                  <c:v>Normal Time</c:v>
                </c:pt>
              </c:strCache>
            </c:strRef>
          </c:cat>
          <c:val>
            <c:numRef>
              <c:f>Sheet1!$B$2:$B$4</c:f>
              <c:numCache>
                <c:formatCode>General</c:formatCode>
                <c:ptCount val="3"/>
                <c:pt idx="0">
                  <c:v>36.799999999999997</c:v>
                </c:pt>
                <c:pt idx="1">
                  <c:v>33.200000000000003</c:v>
                </c:pt>
                <c:pt idx="2">
                  <c:v>33</c:v>
                </c:pt>
              </c:numCache>
            </c:numRef>
          </c:val>
          <c:extLst>
            <c:ext xmlns:c16="http://schemas.microsoft.com/office/drawing/2014/chart" uri="{C3380CC4-5D6E-409C-BE32-E72D297353CC}">
              <c16:uniqueId val="{00000000-E295-4E42-BB89-272DCDF68E9C}"/>
            </c:ext>
          </c:extLst>
        </c:ser>
        <c:dLbls>
          <c:dLblPos val="ctr"/>
          <c:showLegendKey val="0"/>
          <c:showVal val="0"/>
          <c:showCatName val="1"/>
          <c:showSerName val="0"/>
          <c:showPercent val="0"/>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12/6/25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12/6/25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12/6/25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12/6/25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12/6/25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12/6/25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12/6/25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12/6/25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12/6/25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2154-27FF-6955-8ADF-8B459A651319}"/>
              </a:ext>
            </a:extLst>
          </p:cNvPr>
          <p:cNvSpPr>
            <a:spLocks noGrp="1"/>
          </p:cNvSpPr>
          <p:nvPr>
            <p:ph type="ctrTitle"/>
          </p:nvPr>
        </p:nvSpPr>
        <p:spPr>
          <a:xfrm>
            <a:off x="3974416" y="1769422"/>
            <a:ext cx="4526630" cy="3533947"/>
          </a:xfrm>
        </p:spPr>
        <p:txBody>
          <a:bodyPr/>
          <a:lstStyle/>
          <a:p>
            <a:r>
              <a:rPr lang="en-US" sz="2800" b="1" dirty="0">
                <a:effectLst/>
                <a:latin typeface="Copperplate Gothic Bold" panose="020E0705020206020404" pitchFamily="34" charset="77"/>
              </a:rPr>
              <a:t>People Insights Corp</a:t>
            </a:r>
            <a:br>
              <a:rPr lang="en-US" sz="2800" b="1" dirty="0">
                <a:effectLst/>
                <a:latin typeface="Copperplate Gothic Bold" panose="020E0705020206020404" pitchFamily="34" charset="77"/>
              </a:rPr>
            </a:br>
            <a:br>
              <a:rPr lang="en-US" sz="2800" b="1" dirty="0">
                <a:effectLst/>
                <a:latin typeface="Copperplate Gothic Bold" panose="020E0705020206020404" pitchFamily="34" charset="77"/>
              </a:rPr>
            </a:br>
            <a:r>
              <a:rPr lang="en-US" sz="2800" b="1" dirty="0">
                <a:effectLst/>
                <a:latin typeface="Copperplate Gothic Bold" panose="020E0705020206020404" pitchFamily="34" charset="77"/>
              </a:rPr>
              <a:t> Workforce Analytics Project</a:t>
            </a:r>
            <a:br>
              <a:rPr lang="en-US" sz="2800" dirty="0">
                <a:effectLst/>
                <a:latin typeface="Copperplate Gothic Bold" panose="020E0705020206020404" pitchFamily="34" charset="77"/>
              </a:rPr>
            </a:br>
            <a:endParaRPr lang="en-US" sz="2800" dirty="0">
              <a:latin typeface="Copperplate Gothic Bold" panose="020E0705020206020404" pitchFamily="34" charset="77"/>
            </a:endParaRPr>
          </a:p>
        </p:txBody>
      </p:sp>
      <p:sp>
        <p:nvSpPr>
          <p:cNvPr id="3" name="Subtitle 2">
            <a:extLst>
              <a:ext uri="{FF2B5EF4-FFF2-40B4-BE49-F238E27FC236}">
                <a16:creationId xmlns:a16="http://schemas.microsoft.com/office/drawing/2014/main" id="{A392605C-AC20-C9EA-440F-4537ACD071DB}"/>
              </a:ext>
            </a:extLst>
          </p:cNvPr>
          <p:cNvSpPr>
            <a:spLocks noGrp="1"/>
          </p:cNvSpPr>
          <p:nvPr>
            <p:ph type="subTitle" idx="1"/>
          </p:nvPr>
        </p:nvSpPr>
        <p:spPr/>
        <p:txBody>
          <a:bodyPr/>
          <a:lstStyle/>
          <a:p>
            <a:r>
              <a:rPr lang="en-US" dirty="0">
                <a:effectLst/>
                <a:latin typeface=".SF NS"/>
              </a:rPr>
              <a:t>Prepared by: Sasan – Data Scientist</a:t>
            </a:r>
          </a:p>
          <a:p>
            <a:endParaRPr lang="en-US" dirty="0"/>
          </a:p>
        </p:txBody>
      </p:sp>
    </p:spTree>
    <p:extLst>
      <p:ext uri="{BB962C8B-B14F-4D97-AF65-F5344CB8AC3E}">
        <p14:creationId xmlns:p14="http://schemas.microsoft.com/office/powerpoint/2010/main" val="1424478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B214-0DE0-C217-3C9E-A86D2B00B40F}"/>
              </a:ext>
            </a:extLst>
          </p:cNvPr>
          <p:cNvSpPr>
            <a:spLocks noGrp="1"/>
          </p:cNvSpPr>
          <p:nvPr>
            <p:ph type="title"/>
          </p:nvPr>
        </p:nvSpPr>
        <p:spPr/>
        <p:txBody>
          <a:bodyPr/>
          <a:lstStyle/>
          <a:p>
            <a:r>
              <a:rPr lang="en-US" dirty="0">
                <a:effectLst/>
                <a:latin typeface=".SF NS"/>
              </a:rPr>
              <a:t>Project Overview : </a:t>
            </a:r>
            <a:br>
              <a:rPr lang="en-US" dirty="0">
                <a:effectLst/>
                <a:latin typeface=".SF NS"/>
              </a:rPr>
            </a:br>
            <a:endParaRPr lang="en-US" dirty="0"/>
          </a:p>
        </p:txBody>
      </p:sp>
      <p:sp>
        <p:nvSpPr>
          <p:cNvPr id="3" name="Content Placeholder 2">
            <a:extLst>
              <a:ext uri="{FF2B5EF4-FFF2-40B4-BE49-F238E27FC236}">
                <a16:creationId xmlns:a16="http://schemas.microsoft.com/office/drawing/2014/main" id="{5937FB44-7093-61A9-4C10-C5FB73756D57}"/>
              </a:ext>
            </a:extLst>
          </p:cNvPr>
          <p:cNvSpPr>
            <a:spLocks noGrp="1"/>
          </p:cNvSpPr>
          <p:nvPr>
            <p:ph idx="1"/>
          </p:nvPr>
        </p:nvSpPr>
        <p:spPr/>
        <p:txBody>
          <a:bodyPr>
            <a:normAutofit/>
          </a:bodyPr>
          <a:lstStyle/>
          <a:p>
            <a:pPr marL="0" indent="0">
              <a:buNone/>
            </a:pPr>
            <a:r>
              <a:rPr lang="en-US" sz="2400" b="1" dirty="0">
                <a:solidFill>
                  <a:schemeClr val="tx1"/>
                </a:solidFill>
                <a:effectLst/>
                <a:latin typeface=".SF NS"/>
              </a:rPr>
              <a:t>• Goal: Predict which employees are at risk of leaving the company (attrition).</a:t>
            </a:r>
          </a:p>
          <a:p>
            <a:pPr marL="0" indent="0">
              <a:buNone/>
            </a:pPr>
            <a:r>
              <a:rPr lang="en-US" sz="2400" b="1" dirty="0">
                <a:solidFill>
                  <a:schemeClr val="tx1"/>
                </a:solidFill>
                <a:effectLst/>
                <a:latin typeface=".SF NS"/>
              </a:rPr>
              <a:t>• Business value: Support HR in retention strategy and reduce turnover cost.</a:t>
            </a:r>
          </a:p>
          <a:p>
            <a:pPr marL="0" indent="0">
              <a:buNone/>
            </a:pPr>
            <a:r>
              <a:rPr lang="en-US" sz="2400" b="1" dirty="0">
                <a:solidFill>
                  <a:schemeClr val="tx1"/>
                </a:solidFill>
                <a:effectLst/>
                <a:latin typeface=".SF NS"/>
              </a:rPr>
              <a:t>• Role: End-to-end ownership – data cleaning, feature engineering, modeling,             and reporting.</a:t>
            </a:r>
          </a:p>
          <a:p>
            <a:pPr marL="0" indent="0">
              <a:buNone/>
            </a:pPr>
            <a:endParaRPr lang="en-US" sz="2400" dirty="0">
              <a:solidFill>
                <a:schemeClr val="tx1"/>
              </a:solidFill>
            </a:endParaRPr>
          </a:p>
        </p:txBody>
      </p:sp>
    </p:spTree>
    <p:extLst>
      <p:ext uri="{BB962C8B-B14F-4D97-AF65-F5344CB8AC3E}">
        <p14:creationId xmlns:p14="http://schemas.microsoft.com/office/powerpoint/2010/main" val="289338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0C7E-01FF-542A-EA74-DEE085A4E623}"/>
              </a:ext>
            </a:extLst>
          </p:cNvPr>
          <p:cNvSpPr>
            <a:spLocks noGrp="1"/>
          </p:cNvSpPr>
          <p:nvPr>
            <p:ph type="title"/>
          </p:nvPr>
        </p:nvSpPr>
        <p:spPr/>
        <p:txBody>
          <a:bodyPr/>
          <a:lstStyle/>
          <a:p>
            <a:r>
              <a:rPr lang="en-US" dirty="0">
                <a:latin typeface="+mn-lt"/>
              </a:rPr>
              <a:t>Dataset summary :</a:t>
            </a:r>
          </a:p>
        </p:txBody>
      </p:sp>
      <p:sp>
        <p:nvSpPr>
          <p:cNvPr id="3" name="Content Placeholder 2">
            <a:extLst>
              <a:ext uri="{FF2B5EF4-FFF2-40B4-BE49-F238E27FC236}">
                <a16:creationId xmlns:a16="http://schemas.microsoft.com/office/drawing/2014/main" id="{86C60042-DFCF-E9D5-89DA-49DCF749ADFF}"/>
              </a:ext>
            </a:extLst>
          </p:cNvPr>
          <p:cNvSpPr>
            <a:spLocks noGrp="1"/>
          </p:cNvSpPr>
          <p:nvPr>
            <p:ph idx="1"/>
          </p:nvPr>
        </p:nvSpPr>
        <p:spPr/>
        <p:txBody>
          <a:bodyPr/>
          <a:lstStyle/>
          <a:p>
            <a:r>
              <a:rPr lang="en-US" sz="2400" b="1" dirty="0">
                <a:solidFill>
                  <a:schemeClr val="tx1"/>
                </a:solidFill>
                <a:effectLst/>
                <a:latin typeface=".SF NS"/>
              </a:rPr>
              <a:t>500 employee records in a synthetic HR dataset.</a:t>
            </a:r>
          </a:p>
          <a:p>
            <a:pPr marL="0" indent="0">
              <a:buNone/>
            </a:pPr>
            <a:r>
              <a:rPr lang="en-US" sz="2400" b="1" dirty="0">
                <a:solidFill>
                  <a:schemeClr val="tx1"/>
                </a:solidFill>
                <a:effectLst/>
                <a:latin typeface=".SF NS"/>
              </a:rPr>
              <a:t>•  Key fields: Age, Gender, Tenure, </a:t>
            </a:r>
            <a:r>
              <a:rPr lang="en-US" sz="2400" b="1" dirty="0" err="1">
                <a:solidFill>
                  <a:schemeClr val="tx1"/>
                </a:solidFill>
                <a:effectLst/>
                <a:latin typeface=".SF NS"/>
              </a:rPr>
              <a:t>JobSatisfaction</a:t>
            </a:r>
            <a:r>
              <a:rPr lang="en-US" sz="2400" b="1" dirty="0">
                <a:solidFill>
                  <a:schemeClr val="tx1"/>
                </a:solidFill>
                <a:effectLst/>
                <a:latin typeface=".SF NS"/>
              </a:rPr>
              <a:t>, Salary, </a:t>
            </a:r>
            <a:r>
              <a:rPr lang="en-US" sz="2400" b="1" dirty="0" err="1">
                <a:solidFill>
                  <a:schemeClr val="tx1"/>
                </a:solidFill>
                <a:effectLst/>
                <a:latin typeface=".SF NS"/>
              </a:rPr>
              <a:t>WeeklyHours</a:t>
            </a:r>
            <a:r>
              <a:rPr lang="en-US" sz="2400" b="1" dirty="0">
                <a:solidFill>
                  <a:schemeClr val="tx1"/>
                </a:solidFill>
                <a:effectLst/>
                <a:latin typeface=".SF NS"/>
              </a:rPr>
              <a:t>, Department,     </a:t>
            </a:r>
            <a:r>
              <a:rPr lang="en-US" sz="2400" b="1" dirty="0" err="1">
                <a:solidFill>
                  <a:schemeClr val="tx1"/>
                </a:solidFill>
                <a:effectLst/>
                <a:latin typeface=".SF NS"/>
              </a:rPr>
              <a:t>LeftCompany</a:t>
            </a:r>
            <a:r>
              <a:rPr lang="en-US" sz="2400" b="1" dirty="0">
                <a:solidFill>
                  <a:schemeClr val="tx1"/>
                </a:solidFill>
                <a:effectLst/>
                <a:latin typeface=".SF NS"/>
              </a:rPr>
              <a:t>.</a:t>
            </a:r>
          </a:p>
          <a:p>
            <a:pPr marL="0" indent="0">
              <a:buNone/>
            </a:pPr>
            <a:r>
              <a:rPr lang="en-US" sz="2400" b="1" dirty="0">
                <a:solidFill>
                  <a:schemeClr val="tx1"/>
                </a:solidFill>
                <a:effectLst/>
                <a:latin typeface=".SF NS"/>
              </a:rPr>
              <a:t>•  Target variable: </a:t>
            </a:r>
            <a:r>
              <a:rPr lang="en-US" sz="2400" b="1" dirty="0" err="1">
                <a:solidFill>
                  <a:schemeClr val="tx1"/>
                </a:solidFill>
                <a:effectLst/>
                <a:latin typeface=".SF NS"/>
              </a:rPr>
              <a:t>LeftCompany</a:t>
            </a:r>
            <a:r>
              <a:rPr lang="en-US" sz="2400" b="1" dirty="0">
                <a:solidFill>
                  <a:schemeClr val="tx1"/>
                </a:solidFill>
                <a:effectLst/>
                <a:latin typeface=".SF NS"/>
              </a:rPr>
              <a:t> (0 = stayed, 1 = left).</a:t>
            </a:r>
          </a:p>
          <a:p>
            <a:pPr marL="0" indent="0">
              <a:buNone/>
            </a:pPr>
            <a:r>
              <a:rPr lang="en-US" sz="2400" b="1" dirty="0">
                <a:solidFill>
                  <a:schemeClr val="tx1"/>
                </a:solidFill>
                <a:effectLst/>
                <a:latin typeface=".SF NS"/>
              </a:rPr>
              <a:t>•  No missing values after cleaning; mix of numeric and categorical features.</a:t>
            </a:r>
          </a:p>
          <a:p>
            <a:pPr marL="0" indent="0">
              <a:buNone/>
            </a:pPr>
            <a:endParaRPr lang="en-US" dirty="0"/>
          </a:p>
        </p:txBody>
      </p:sp>
    </p:spTree>
    <p:extLst>
      <p:ext uri="{BB962C8B-B14F-4D97-AF65-F5344CB8AC3E}">
        <p14:creationId xmlns:p14="http://schemas.microsoft.com/office/powerpoint/2010/main" val="2663225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E1CA-ACF4-3E2B-B970-83FE45CFFDD0}"/>
              </a:ext>
            </a:extLst>
          </p:cNvPr>
          <p:cNvSpPr>
            <a:spLocks noGrp="1"/>
          </p:cNvSpPr>
          <p:nvPr>
            <p:ph type="title"/>
          </p:nvPr>
        </p:nvSpPr>
        <p:spPr/>
        <p:txBody>
          <a:bodyPr>
            <a:normAutofit fontScale="90000"/>
          </a:bodyPr>
          <a:lstStyle/>
          <a:p>
            <a:r>
              <a:rPr lang="en-US" dirty="0">
                <a:effectLst/>
                <a:latin typeface=".SF NS"/>
              </a:rPr>
              <a:t>Exploratory Data Analysis (EDA)</a:t>
            </a:r>
            <a:br>
              <a:rPr lang="en-US" dirty="0">
                <a:effectLst/>
                <a:latin typeface=".SF NS"/>
              </a:rPr>
            </a:br>
            <a:endParaRPr lang="en-US" dirty="0"/>
          </a:p>
        </p:txBody>
      </p:sp>
      <p:sp>
        <p:nvSpPr>
          <p:cNvPr id="3" name="Content Placeholder 2">
            <a:extLst>
              <a:ext uri="{FF2B5EF4-FFF2-40B4-BE49-F238E27FC236}">
                <a16:creationId xmlns:a16="http://schemas.microsoft.com/office/drawing/2014/main" id="{26C96FE2-AB6C-919F-E257-1773A66FBEF7}"/>
              </a:ext>
            </a:extLst>
          </p:cNvPr>
          <p:cNvSpPr>
            <a:spLocks noGrp="1"/>
          </p:cNvSpPr>
          <p:nvPr>
            <p:ph idx="1"/>
          </p:nvPr>
        </p:nvSpPr>
        <p:spPr/>
        <p:txBody>
          <a:bodyPr/>
          <a:lstStyle/>
          <a:p>
            <a:r>
              <a:rPr lang="en-US" sz="2400" b="1" dirty="0">
                <a:solidFill>
                  <a:schemeClr val="tx1"/>
                </a:solidFill>
                <a:effectLst/>
                <a:latin typeface=".SF NS"/>
              </a:rPr>
              <a:t>Checked distributions of Age, Tenure, Salary and </a:t>
            </a:r>
            <a:r>
              <a:rPr lang="en-US" sz="2400" b="1" dirty="0" err="1">
                <a:solidFill>
                  <a:schemeClr val="tx1"/>
                </a:solidFill>
                <a:effectLst/>
                <a:latin typeface=".SF NS"/>
              </a:rPr>
              <a:t>WeeklyHours</a:t>
            </a:r>
            <a:r>
              <a:rPr lang="en-US" sz="2400" b="1" dirty="0">
                <a:solidFill>
                  <a:schemeClr val="tx1"/>
                </a:solidFill>
                <a:effectLst/>
                <a:latin typeface=".SF NS"/>
              </a:rPr>
              <a:t> (histograms and boxplots).</a:t>
            </a:r>
          </a:p>
          <a:p>
            <a:r>
              <a:rPr lang="en-US" sz="2400" b="1" dirty="0">
                <a:solidFill>
                  <a:schemeClr val="tx1"/>
                </a:solidFill>
                <a:effectLst/>
                <a:latin typeface=".SF NS"/>
              </a:rPr>
              <a:t>Identified salary and weekly hours as key drivers of dissatisfaction.</a:t>
            </a:r>
          </a:p>
          <a:p>
            <a:r>
              <a:rPr lang="en-US" sz="2400" b="1" dirty="0">
                <a:solidFill>
                  <a:schemeClr val="tx1"/>
                </a:solidFill>
                <a:effectLst/>
                <a:latin typeface=".SF NS"/>
              </a:rPr>
              <a:t>Observed class imbalance: majority of employees stayed, minority left.</a:t>
            </a:r>
          </a:p>
          <a:p>
            <a:r>
              <a:rPr lang="en-US" sz="2400" b="1" dirty="0">
                <a:solidFill>
                  <a:schemeClr val="tx1"/>
                </a:solidFill>
                <a:effectLst/>
                <a:latin typeface=".SF NS"/>
              </a:rPr>
              <a:t>Used a correlation heatmap to inspect relationships between numeric features.</a:t>
            </a:r>
          </a:p>
          <a:p>
            <a:endParaRPr lang="en-US" dirty="0"/>
          </a:p>
        </p:txBody>
      </p:sp>
    </p:spTree>
    <p:extLst>
      <p:ext uri="{BB962C8B-B14F-4D97-AF65-F5344CB8AC3E}">
        <p14:creationId xmlns:p14="http://schemas.microsoft.com/office/powerpoint/2010/main" val="4216143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31F69-4F51-916F-8C68-F033B435BB44}"/>
              </a:ext>
            </a:extLst>
          </p:cNvPr>
          <p:cNvSpPr>
            <a:spLocks noGrp="1"/>
          </p:cNvSpPr>
          <p:nvPr>
            <p:ph type="title"/>
          </p:nvPr>
        </p:nvSpPr>
        <p:spPr/>
        <p:txBody>
          <a:bodyPr/>
          <a:lstStyle/>
          <a:p>
            <a:r>
              <a:rPr lang="en-US" dirty="0">
                <a:latin typeface="Apple Braille" pitchFamily="2" charset="0"/>
              </a:rPr>
              <a:t>FEATURE ENGINEERING</a:t>
            </a:r>
          </a:p>
        </p:txBody>
      </p:sp>
      <p:sp>
        <p:nvSpPr>
          <p:cNvPr id="3" name="Content Placeholder 2">
            <a:extLst>
              <a:ext uri="{FF2B5EF4-FFF2-40B4-BE49-F238E27FC236}">
                <a16:creationId xmlns:a16="http://schemas.microsoft.com/office/drawing/2014/main" id="{CD8527E3-287F-BDE1-49EB-C856EFB7B18C}"/>
              </a:ext>
            </a:extLst>
          </p:cNvPr>
          <p:cNvSpPr>
            <a:spLocks noGrp="1"/>
          </p:cNvSpPr>
          <p:nvPr>
            <p:ph idx="1"/>
          </p:nvPr>
        </p:nvSpPr>
        <p:spPr/>
        <p:txBody>
          <a:bodyPr/>
          <a:lstStyle/>
          <a:p>
            <a:r>
              <a:rPr lang="en-US" dirty="0">
                <a:effectLst/>
                <a:latin typeface=".SF NS"/>
              </a:rPr>
              <a:t>Created </a:t>
            </a:r>
            <a:r>
              <a:rPr lang="en-US" dirty="0" err="1">
                <a:effectLst/>
                <a:latin typeface=".SF NS"/>
              </a:rPr>
              <a:t>salary_per_hour</a:t>
            </a:r>
            <a:r>
              <a:rPr lang="en-US" dirty="0">
                <a:effectLst/>
                <a:latin typeface=".SF NS"/>
              </a:rPr>
              <a:t> to capture real compensation per working hour.</a:t>
            </a:r>
          </a:p>
          <a:p>
            <a:r>
              <a:rPr lang="en-US" dirty="0">
                <a:effectLst/>
                <a:latin typeface=".SF NS"/>
              </a:rPr>
              <a:t>•Built </a:t>
            </a:r>
            <a:r>
              <a:rPr lang="en-US" dirty="0" err="1">
                <a:effectLst/>
                <a:latin typeface=".SF NS"/>
              </a:rPr>
              <a:t>age_class</a:t>
            </a:r>
            <a:r>
              <a:rPr lang="en-US" dirty="0">
                <a:effectLst/>
                <a:latin typeface=".SF NS"/>
              </a:rPr>
              <a:t> and </a:t>
            </a:r>
            <a:r>
              <a:rPr lang="en-US" dirty="0" err="1">
                <a:effectLst/>
                <a:latin typeface=".SF NS"/>
              </a:rPr>
              <a:t>tenure_class</a:t>
            </a:r>
            <a:r>
              <a:rPr lang="en-US" dirty="0">
                <a:effectLst/>
                <a:latin typeface=".SF NS"/>
              </a:rPr>
              <a:t> buckets (Young/Middle-aged/Senior, Junior/Senior/Chief).</a:t>
            </a:r>
          </a:p>
          <a:p>
            <a:r>
              <a:rPr lang="en-US" dirty="0">
                <a:effectLst/>
                <a:latin typeface=".SF NS"/>
              </a:rPr>
              <a:t>•Computed </a:t>
            </a:r>
            <a:r>
              <a:rPr lang="en-US" dirty="0" err="1">
                <a:effectLst/>
                <a:latin typeface=".SF NS"/>
              </a:rPr>
              <a:t>dept_min_salary</a:t>
            </a:r>
            <a:r>
              <a:rPr lang="en-US" dirty="0">
                <a:effectLst/>
                <a:latin typeface=".SF NS"/>
              </a:rPr>
              <a:t>, </a:t>
            </a:r>
            <a:r>
              <a:rPr lang="en-US" dirty="0" err="1">
                <a:effectLst/>
                <a:latin typeface=".SF NS"/>
              </a:rPr>
              <a:t>dept_max_salary</a:t>
            </a:r>
            <a:r>
              <a:rPr lang="en-US" dirty="0">
                <a:effectLst/>
                <a:latin typeface=".SF NS"/>
              </a:rPr>
              <a:t>, and </a:t>
            </a:r>
            <a:r>
              <a:rPr lang="en-US" dirty="0" err="1">
                <a:effectLst/>
                <a:latin typeface=".SF NS"/>
              </a:rPr>
              <a:t>avg_salary</a:t>
            </a:r>
            <a:r>
              <a:rPr lang="en-US" dirty="0">
                <a:effectLst/>
                <a:latin typeface=".SF NS"/>
              </a:rPr>
              <a:t> with </a:t>
            </a:r>
            <a:r>
              <a:rPr lang="en-US" dirty="0" err="1">
                <a:effectLst/>
                <a:latin typeface=".SF NS"/>
              </a:rPr>
              <a:t>groupby</a:t>
            </a:r>
            <a:r>
              <a:rPr lang="en-US" dirty="0">
                <a:effectLst/>
                <a:latin typeface=".SF NS"/>
              </a:rPr>
              <a:t> + transform.</a:t>
            </a:r>
          </a:p>
          <a:p>
            <a:r>
              <a:rPr lang="en-US" dirty="0">
                <a:effectLst/>
                <a:latin typeface=".SF NS"/>
              </a:rPr>
              <a:t>•Derived </a:t>
            </a:r>
            <a:r>
              <a:rPr lang="en-US" dirty="0" err="1">
                <a:effectLst/>
                <a:latin typeface=".SF NS"/>
              </a:rPr>
              <a:t>salary_vs_dept_avg</a:t>
            </a:r>
            <a:r>
              <a:rPr lang="en-US" dirty="0">
                <a:effectLst/>
                <a:latin typeface=".SF NS"/>
              </a:rPr>
              <a:t> and </a:t>
            </a:r>
            <a:r>
              <a:rPr lang="en-US" dirty="0" err="1">
                <a:effectLst/>
                <a:latin typeface=".SF NS"/>
              </a:rPr>
              <a:t>experience_ratio</a:t>
            </a:r>
            <a:r>
              <a:rPr lang="en-US" dirty="0">
                <a:effectLst/>
                <a:latin typeface=".SF NS"/>
              </a:rPr>
              <a:t> to represent fairness and seniority.</a:t>
            </a:r>
          </a:p>
          <a:p>
            <a:endParaRPr lang="en-US" dirty="0"/>
          </a:p>
        </p:txBody>
      </p:sp>
      <p:pic>
        <p:nvPicPr>
          <p:cNvPr id="4" name="Picture 3">
            <a:extLst>
              <a:ext uri="{FF2B5EF4-FFF2-40B4-BE49-F238E27FC236}">
                <a16:creationId xmlns:a16="http://schemas.microsoft.com/office/drawing/2014/main" id="{31878A8F-0D4F-B4D4-36CF-390052A81F23}"/>
              </a:ext>
            </a:extLst>
          </p:cNvPr>
          <p:cNvPicPr>
            <a:picLocks noChangeAspect="1"/>
          </p:cNvPicPr>
          <p:nvPr/>
        </p:nvPicPr>
        <p:blipFill>
          <a:blip r:embed="rId2"/>
          <a:stretch>
            <a:fillRect/>
          </a:stretch>
        </p:blipFill>
        <p:spPr>
          <a:xfrm>
            <a:off x="1493322" y="4152034"/>
            <a:ext cx="4254335" cy="2422932"/>
          </a:xfrm>
          <a:prstGeom prst="rect">
            <a:avLst/>
          </a:prstGeom>
        </p:spPr>
      </p:pic>
      <p:pic>
        <p:nvPicPr>
          <p:cNvPr id="5" name="Picture 4">
            <a:extLst>
              <a:ext uri="{FF2B5EF4-FFF2-40B4-BE49-F238E27FC236}">
                <a16:creationId xmlns:a16="http://schemas.microsoft.com/office/drawing/2014/main" id="{C474517F-5971-8105-E2DC-77B7B2BCB69E}"/>
              </a:ext>
            </a:extLst>
          </p:cNvPr>
          <p:cNvPicPr>
            <a:picLocks noChangeAspect="1"/>
          </p:cNvPicPr>
          <p:nvPr/>
        </p:nvPicPr>
        <p:blipFill>
          <a:blip r:embed="rId3"/>
          <a:stretch>
            <a:fillRect/>
          </a:stretch>
        </p:blipFill>
        <p:spPr>
          <a:xfrm>
            <a:off x="6393872" y="4152034"/>
            <a:ext cx="4389912" cy="2576710"/>
          </a:xfrm>
          <a:prstGeom prst="rect">
            <a:avLst/>
          </a:prstGeom>
        </p:spPr>
      </p:pic>
    </p:spTree>
    <p:extLst>
      <p:ext uri="{BB962C8B-B14F-4D97-AF65-F5344CB8AC3E}">
        <p14:creationId xmlns:p14="http://schemas.microsoft.com/office/powerpoint/2010/main" val="40847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D29E-D382-8141-E127-C9E75064329A}"/>
              </a:ext>
            </a:extLst>
          </p:cNvPr>
          <p:cNvSpPr>
            <a:spLocks noGrp="1"/>
          </p:cNvSpPr>
          <p:nvPr>
            <p:ph type="title"/>
          </p:nvPr>
        </p:nvSpPr>
        <p:spPr/>
        <p:txBody>
          <a:bodyPr/>
          <a:lstStyle/>
          <a:p>
            <a:r>
              <a:rPr lang="en-US" dirty="0"/>
              <a:t>PROJECT SUMMARY:</a:t>
            </a:r>
          </a:p>
        </p:txBody>
      </p:sp>
      <p:sp>
        <p:nvSpPr>
          <p:cNvPr id="3" name="Content Placeholder 2">
            <a:extLst>
              <a:ext uri="{FF2B5EF4-FFF2-40B4-BE49-F238E27FC236}">
                <a16:creationId xmlns:a16="http://schemas.microsoft.com/office/drawing/2014/main" id="{A7D6402E-051C-2ACA-64C0-A84CDBC59B52}"/>
              </a:ext>
            </a:extLst>
          </p:cNvPr>
          <p:cNvSpPr>
            <a:spLocks noGrp="1"/>
          </p:cNvSpPr>
          <p:nvPr>
            <p:ph idx="1"/>
          </p:nvPr>
        </p:nvSpPr>
        <p:spPr>
          <a:xfrm>
            <a:off x="1251678" y="1641052"/>
            <a:ext cx="10178322" cy="4834563"/>
          </a:xfrm>
        </p:spPr>
        <p:txBody>
          <a:bodyPr>
            <a:noAutofit/>
          </a:bodyPr>
          <a:lstStyle/>
          <a:p>
            <a:r>
              <a:rPr lang="en-US" sz="1600" b="1" dirty="0">
                <a:effectLst/>
                <a:latin typeface=".SF NS"/>
              </a:rPr>
              <a:t>In this project, our objective was to understand the key reasons why certain employees decided to leave the company. Through detailed analysis of the dataset, we identified several important patterns and insights.</a:t>
            </a:r>
          </a:p>
          <a:p>
            <a:pPr marL="0" indent="0">
              <a:buNone/>
            </a:pPr>
            <a:r>
              <a:rPr lang="en-US" sz="1600" b="1" dirty="0">
                <a:effectLst/>
                <a:latin typeface=".SF NS"/>
              </a:rPr>
              <a:t>     First, we observed that a large portion of employees who left were older individuals with many years of experience, yet they were receiving lower salaries compared to other employees with similar or even lower tenure. This imbalance was a significant indicator of dissatisfaction.</a:t>
            </a:r>
          </a:p>
          <a:p>
            <a:r>
              <a:rPr lang="en-US" sz="1600" b="1" dirty="0">
                <a:effectLst/>
                <a:latin typeface=".SF NS"/>
              </a:rPr>
              <a:t>Additionally, we analyzed different departments to determine which branches offered higher salaries and which departments were paying below the expected range. This helped us understand structural salary inequalities within the organization.</a:t>
            </a:r>
          </a:p>
          <a:p>
            <a:r>
              <a:rPr lang="en-US" sz="1600" b="1" dirty="0">
                <a:effectLst/>
                <a:latin typeface=".SF NS"/>
              </a:rPr>
              <a:t>We also examined the gender distribution to identify how many male and female employees were present in the company and whether any trends existed between gender and attrition.</a:t>
            </a:r>
          </a:p>
          <a:p>
            <a:r>
              <a:rPr lang="en-US" sz="1600" b="1" dirty="0">
                <a:effectLst/>
                <a:latin typeface=".SF NS"/>
              </a:rPr>
              <a:t>Most importantly, our analysis revealed that many of the employees who left the company were experiencing excessive weekly working hours, especially those in older age groups, while still receiving relatively low compensation. The combination of high workload, advanced age, and lower hourly pay was a major factor that contributed to their decision to leave.</a:t>
            </a:r>
          </a:p>
          <a:p>
            <a:r>
              <a:rPr lang="en-US" sz="1600" b="1" dirty="0">
                <a:effectLst/>
                <a:latin typeface=".SF NS"/>
              </a:rPr>
              <a:t>Overall, the insights from this project help highlight the critical factors affecting employee satisfaction and retention, enabling HR teams to develop better compensation strategies and workload balancing to reduce future attrition.</a:t>
            </a:r>
          </a:p>
          <a:p>
            <a:endParaRPr lang="en-US" sz="1600" b="1" dirty="0"/>
          </a:p>
        </p:txBody>
      </p:sp>
    </p:spTree>
    <p:extLst>
      <p:ext uri="{BB962C8B-B14F-4D97-AF65-F5344CB8AC3E}">
        <p14:creationId xmlns:p14="http://schemas.microsoft.com/office/powerpoint/2010/main" val="2261834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BBCD5-6755-9264-7B27-BD381E47B7EE}"/>
              </a:ext>
            </a:extLst>
          </p:cNvPr>
          <p:cNvSpPr>
            <a:spLocks noGrp="1"/>
          </p:cNvSpPr>
          <p:nvPr>
            <p:ph type="title"/>
          </p:nvPr>
        </p:nvSpPr>
        <p:spPr/>
        <p:txBody>
          <a:bodyPr/>
          <a:lstStyle/>
          <a:p>
            <a:endParaRPr lang="en-US" dirty="0"/>
          </a:p>
        </p:txBody>
      </p:sp>
      <p:graphicFrame>
        <p:nvGraphicFramePr>
          <p:cNvPr id="4" name="Content Placeholder 3">
            <a:extLst>
              <a:ext uri="{FF2B5EF4-FFF2-40B4-BE49-F238E27FC236}">
                <a16:creationId xmlns:a16="http://schemas.microsoft.com/office/drawing/2014/main" id="{47B42F76-EEC1-8C38-8223-4DB06F437D5D}"/>
              </a:ext>
            </a:extLst>
          </p:cNvPr>
          <p:cNvGraphicFramePr>
            <a:graphicFrameLocks noGrp="1"/>
          </p:cNvGraphicFramePr>
          <p:nvPr>
            <p:ph idx="1"/>
            <p:extLst>
              <p:ext uri="{D42A27DB-BD31-4B8C-83A1-F6EECF244321}">
                <p14:modId xmlns:p14="http://schemas.microsoft.com/office/powerpoint/2010/main" val="1425049392"/>
              </p:ext>
            </p:extLst>
          </p:nvPr>
        </p:nvGraphicFramePr>
        <p:xfrm>
          <a:off x="1250950" y="2286000"/>
          <a:ext cx="5346798" cy="3594100"/>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114E28D4-753C-953A-0CAE-CAC0CC473701}"/>
              </a:ext>
            </a:extLst>
          </p:cNvPr>
          <p:cNvPicPr>
            <a:picLocks noChangeAspect="1"/>
          </p:cNvPicPr>
          <p:nvPr/>
        </p:nvPicPr>
        <p:blipFill>
          <a:blip r:embed="rId3"/>
          <a:stretch>
            <a:fillRect/>
          </a:stretch>
        </p:blipFill>
        <p:spPr>
          <a:xfrm>
            <a:off x="6729241" y="2286000"/>
            <a:ext cx="4445000" cy="3594100"/>
          </a:xfrm>
          <a:prstGeom prst="rect">
            <a:avLst/>
          </a:prstGeom>
        </p:spPr>
      </p:pic>
    </p:spTree>
    <p:extLst>
      <p:ext uri="{BB962C8B-B14F-4D97-AF65-F5344CB8AC3E}">
        <p14:creationId xmlns:p14="http://schemas.microsoft.com/office/powerpoint/2010/main" val="2605479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BB865-4225-6FEA-41AB-D785463111B6}"/>
              </a:ext>
            </a:extLst>
          </p:cNvPr>
          <p:cNvSpPr>
            <a:spLocks noGrp="1"/>
          </p:cNvSpPr>
          <p:nvPr>
            <p:ph type="title"/>
          </p:nvPr>
        </p:nvSpPr>
        <p:spPr>
          <a:xfrm>
            <a:off x="1071489" y="83720"/>
            <a:ext cx="10178322" cy="1492132"/>
          </a:xfrm>
        </p:spPr>
        <p:txBody>
          <a:bodyPr/>
          <a:lstStyle/>
          <a:p>
            <a:r>
              <a:rPr lang="en-US" dirty="0"/>
              <a:t>Salary by </a:t>
            </a:r>
            <a:r>
              <a:rPr lang="en-US" dirty="0" err="1"/>
              <a:t>aGE</a:t>
            </a:r>
            <a:r>
              <a:rPr lang="en-US" dirty="0"/>
              <a:t> </a:t>
            </a:r>
            <a:r>
              <a:rPr lang="en-US" dirty="0" err="1"/>
              <a:t>cLASS</a:t>
            </a:r>
            <a:r>
              <a:rPr lang="en-US" dirty="0"/>
              <a:t>:</a:t>
            </a:r>
          </a:p>
        </p:txBody>
      </p:sp>
      <p:pic>
        <p:nvPicPr>
          <p:cNvPr id="4" name="Content Placeholder 3">
            <a:extLst>
              <a:ext uri="{FF2B5EF4-FFF2-40B4-BE49-F238E27FC236}">
                <a16:creationId xmlns:a16="http://schemas.microsoft.com/office/drawing/2014/main" id="{E42F9A22-91E6-C34D-20F1-5107EAC3A9D9}"/>
              </a:ext>
            </a:extLst>
          </p:cNvPr>
          <p:cNvPicPr>
            <a:picLocks noGrp="1" noChangeAspect="1"/>
          </p:cNvPicPr>
          <p:nvPr>
            <p:ph idx="1"/>
          </p:nvPr>
        </p:nvPicPr>
        <p:blipFill>
          <a:blip r:embed="rId2"/>
          <a:stretch>
            <a:fillRect/>
          </a:stretch>
        </p:blipFill>
        <p:spPr>
          <a:xfrm>
            <a:off x="5242908" y="1452485"/>
            <a:ext cx="6006903" cy="4575729"/>
          </a:xfrm>
          <a:prstGeom prst="rect">
            <a:avLst/>
          </a:prstGeom>
        </p:spPr>
      </p:pic>
      <p:sp>
        <p:nvSpPr>
          <p:cNvPr id="5" name="TextBox 4">
            <a:extLst>
              <a:ext uri="{FF2B5EF4-FFF2-40B4-BE49-F238E27FC236}">
                <a16:creationId xmlns:a16="http://schemas.microsoft.com/office/drawing/2014/main" id="{A027035E-BFBF-BF0B-EB98-77E4632B6AD1}"/>
              </a:ext>
            </a:extLst>
          </p:cNvPr>
          <p:cNvSpPr txBox="1"/>
          <p:nvPr/>
        </p:nvSpPr>
        <p:spPr>
          <a:xfrm>
            <a:off x="1032328" y="1367000"/>
            <a:ext cx="4210580" cy="3970318"/>
          </a:xfrm>
          <a:prstGeom prst="rect">
            <a:avLst/>
          </a:prstGeom>
          <a:noFill/>
        </p:spPr>
        <p:txBody>
          <a:bodyPr wrap="square" rtlCol="0">
            <a:spAutoFit/>
          </a:bodyPr>
          <a:lstStyle/>
          <a:p>
            <a:r>
              <a:rPr lang="en-US" dirty="0">
                <a:effectLst/>
                <a:latin typeface=".SF NS"/>
              </a:rPr>
              <a:t>Although the </a:t>
            </a:r>
            <a:r>
              <a:rPr lang="en-US" b="1" dirty="0">
                <a:effectLst/>
                <a:latin typeface=".SF NS"/>
              </a:rPr>
              <a:t>maximum</a:t>
            </a:r>
            <a:r>
              <a:rPr lang="en-US" dirty="0">
                <a:effectLst/>
                <a:latin typeface=".SF NS"/>
              </a:rPr>
              <a:t> salary range is similar across all age groups, the </a:t>
            </a:r>
            <a:r>
              <a:rPr lang="en-US" b="1" i="1" dirty="0">
                <a:solidFill>
                  <a:srgbClr val="FF0000"/>
                </a:solidFill>
                <a:effectLst/>
                <a:latin typeface=".SF NS"/>
              </a:rPr>
              <a:t>older</a:t>
            </a:r>
            <a:r>
              <a:rPr lang="en-US" i="1" dirty="0">
                <a:effectLst/>
                <a:latin typeface=".SF NS"/>
              </a:rPr>
              <a:t> </a:t>
            </a:r>
            <a:r>
              <a:rPr lang="en-US" i="1" dirty="0">
                <a:solidFill>
                  <a:srgbClr val="FF0000"/>
                </a:solidFill>
                <a:effectLst/>
                <a:latin typeface=".SF NS"/>
              </a:rPr>
              <a:t>employees</a:t>
            </a:r>
            <a:r>
              <a:rPr lang="en-US" dirty="0">
                <a:effectLst/>
                <a:latin typeface=".SF NS"/>
              </a:rPr>
              <a:t> show a noticeably lower minimum salary compared to younger groups.</a:t>
            </a:r>
          </a:p>
          <a:p>
            <a:r>
              <a:rPr lang="en-US" b="1" u="sng" dirty="0">
                <a:effectLst/>
                <a:latin typeface=".SF NS"/>
              </a:rPr>
              <a:t>This suggests a salary imbalance where older employees, despite higher experience, receive disproportionately lower compensation</a:t>
            </a:r>
            <a:r>
              <a:rPr lang="en-US" dirty="0">
                <a:effectLst/>
                <a:latin typeface=".SF NS"/>
              </a:rPr>
              <a:t>.</a:t>
            </a:r>
          </a:p>
          <a:p>
            <a:r>
              <a:rPr lang="en-US" dirty="0">
                <a:effectLst/>
                <a:latin typeface=".SF NS"/>
              </a:rPr>
              <a:t>Combined with longer working hours and age-related workload pressure, this explains why many older employees are more likely to leave the company.</a:t>
            </a:r>
          </a:p>
          <a:p>
            <a:endParaRPr lang="en-US" dirty="0"/>
          </a:p>
        </p:txBody>
      </p:sp>
    </p:spTree>
    <p:extLst>
      <p:ext uri="{BB962C8B-B14F-4D97-AF65-F5344CB8AC3E}">
        <p14:creationId xmlns:p14="http://schemas.microsoft.com/office/powerpoint/2010/main" val="4172199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D4B1A-6DC7-5EB3-5239-B565213717F8}"/>
              </a:ext>
            </a:extLst>
          </p:cNvPr>
          <p:cNvSpPr>
            <a:spLocks noGrp="1"/>
          </p:cNvSpPr>
          <p:nvPr>
            <p:ph type="title"/>
          </p:nvPr>
        </p:nvSpPr>
        <p:spPr>
          <a:xfrm>
            <a:off x="1251678" y="382384"/>
            <a:ext cx="9875867" cy="2656237"/>
          </a:xfrm>
        </p:spPr>
        <p:txBody>
          <a:bodyPr>
            <a:normAutofit/>
          </a:bodyPr>
          <a:lstStyle/>
          <a:p>
            <a:r>
              <a:rPr lang="en-US" sz="2800" dirty="0">
                <a:effectLst/>
                <a:latin typeface=".SF NS"/>
              </a:rPr>
              <a:t>The </a:t>
            </a:r>
            <a:r>
              <a:rPr lang="en-US" sz="2800" b="1" u="sng" dirty="0">
                <a:solidFill>
                  <a:srgbClr val="FF0000"/>
                </a:solidFill>
                <a:effectLst/>
                <a:latin typeface=".SF NS"/>
              </a:rPr>
              <a:t>Y-axis</a:t>
            </a:r>
            <a:r>
              <a:rPr lang="en-US" sz="2800" dirty="0">
                <a:effectLst/>
                <a:latin typeface=".SF NS"/>
              </a:rPr>
              <a:t> represents the number of employees in each salary-per-hour category.</a:t>
            </a:r>
            <a:br>
              <a:rPr lang="en-US" sz="2800" dirty="0">
                <a:effectLst/>
                <a:latin typeface=".SF NS"/>
              </a:rPr>
            </a:br>
            <a:endParaRPr lang="en-US" sz="2800" dirty="0"/>
          </a:p>
        </p:txBody>
      </p:sp>
      <p:pic>
        <p:nvPicPr>
          <p:cNvPr id="4" name="Content Placeholder 3">
            <a:extLst>
              <a:ext uri="{FF2B5EF4-FFF2-40B4-BE49-F238E27FC236}">
                <a16:creationId xmlns:a16="http://schemas.microsoft.com/office/drawing/2014/main" id="{A14AC71C-C7AA-901A-83CB-AE01D0B528E8}"/>
              </a:ext>
            </a:extLst>
          </p:cNvPr>
          <p:cNvPicPr>
            <a:picLocks noGrp="1" noChangeAspect="1"/>
          </p:cNvPicPr>
          <p:nvPr>
            <p:ph idx="1"/>
          </p:nvPr>
        </p:nvPicPr>
        <p:blipFill>
          <a:blip r:embed="rId2"/>
          <a:stretch>
            <a:fillRect/>
          </a:stretch>
        </p:blipFill>
        <p:spPr>
          <a:xfrm>
            <a:off x="3194293" y="1741268"/>
            <a:ext cx="5513607" cy="4391540"/>
          </a:xfrm>
          <a:prstGeom prst="rect">
            <a:avLst/>
          </a:prstGeom>
        </p:spPr>
      </p:pic>
    </p:spTree>
    <p:extLst>
      <p:ext uri="{BB962C8B-B14F-4D97-AF65-F5344CB8AC3E}">
        <p14:creationId xmlns:p14="http://schemas.microsoft.com/office/powerpoint/2010/main" val="3533698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940C-AB0A-09FA-279A-0A4527F12851}"/>
              </a:ext>
            </a:extLst>
          </p:cNvPr>
          <p:cNvSpPr>
            <a:spLocks noGrp="1"/>
          </p:cNvSpPr>
          <p:nvPr>
            <p:ph type="title"/>
          </p:nvPr>
        </p:nvSpPr>
        <p:spPr/>
        <p:txBody>
          <a:bodyPr/>
          <a:lstStyle/>
          <a:p>
            <a:r>
              <a:rPr lang="en-US" b="1" dirty="0">
                <a:latin typeface="Copperplate Gothic Bold" panose="020E0705020206020404" pitchFamily="34" charset="77"/>
              </a:rPr>
              <a:t>Modeling Approach</a:t>
            </a:r>
          </a:p>
        </p:txBody>
      </p:sp>
      <p:sp>
        <p:nvSpPr>
          <p:cNvPr id="3" name="Content Placeholder 2">
            <a:extLst>
              <a:ext uri="{FF2B5EF4-FFF2-40B4-BE49-F238E27FC236}">
                <a16:creationId xmlns:a16="http://schemas.microsoft.com/office/drawing/2014/main" id="{849383E9-88D2-5EBF-5124-1079F739D56D}"/>
              </a:ext>
            </a:extLst>
          </p:cNvPr>
          <p:cNvSpPr>
            <a:spLocks noGrp="1"/>
          </p:cNvSpPr>
          <p:nvPr>
            <p:ph idx="1"/>
          </p:nvPr>
        </p:nvSpPr>
        <p:spPr/>
        <p:txBody>
          <a:bodyPr/>
          <a:lstStyle/>
          <a:p>
            <a:r>
              <a:rPr lang="en-US" b="1" dirty="0">
                <a:solidFill>
                  <a:schemeClr val="tx1"/>
                </a:solidFill>
                <a:effectLst/>
                <a:latin typeface=".SF NS"/>
              </a:rPr>
              <a:t>Binary Classification</a:t>
            </a:r>
          </a:p>
          <a:p>
            <a:r>
              <a:rPr lang="en-US" b="1" dirty="0">
                <a:solidFill>
                  <a:schemeClr val="tx1"/>
                </a:solidFill>
                <a:effectLst/>
                <a:latin typeface=".SF NS"/>
              </a:rPr>
              <a:t>• Train/Test Split: 80/20</a:t>
            </a:r>
          </a:p>
          <a:p>
            <a:r>
              <a:rPr lang="en-US" b="1" dirty="0">
                <a:solidFill>
                  <a:schemeClr val="tx1"/>
                </a:solidFill>
                <a:effectLst/>
                <a:latin typeface=".SF NS"/>
              </a:rPr>
              <a:t>• One-hot encoding </a:t>
            </a:r>
            <a:r>
              <a:rPr lang="fa-IR" b="1" dirty="0">
                <a:solidFill>
                  <a:schemeClr val="tx1"/>
                </a:solidFill>
                <a:effectLst/>
                <a:latin typeface=".SF NS"/>
              </a:rPr>
              <a:t>با </a:t>
            </a:r>
            <a:r>
              <a:rPr lang="en-US" b="1" dirty="0" err="1">
                <a:solidFill>
                  <a:schemeClr val="tx1"/>
                </a:solidFill>
                <a:effectLst/>
                <a:latin typeface=".SF NS"/>
              </a:rPr>
              <a:t>get_dummies</a:t>
            </a:r>
            <a:endParaRPr lang="en-US" b="1" dirty="0">
              <a:solidFill>
                <a:schemeClr val="tx1"/>
              </a:solidFill>
              <a:effectLst/>
              <a:latin typeface=".SF NS"/>
            </a:endParaRPr>
          </a:p>
          <a:p>
            <a:r>
              <a:rPr lang="en-US" b="1" dirty="0">
                <a:solidFill>
                  <a:schemeClr val="tx1"/>
                </a:solidFill>
                <a:effectLst/>
                <a:latin typeface=".SF NS"/>
              </a:rPr>
              <a:t>• Baseline: Logistic Regression</a:t>
            </a:r>
          </a:p>
          <a:p>
            <a:r>
              <a:rPr lang="en-US" b="1" dirty="0">
                <a:solidFill>
                  <a:schemeClr val="tx1"/>
                </a:solidFill>
                <a:effectLst/>
                <a:latin typeface=".SF NS"/>
              </a:rPr>
              <a:t>• Main model: </a:t>
            </a:r>
            <a:r>
              <a:rPr lang="en-US" b="1" dirty="0" err="1">
                <a:solidFill>
                  <a:schemeClr val="tx1"/>
                </a:solidFill>
                <a:effectLst/>
                <a:latin typeface=".SF NS"/>
              </a:rPr>
              <a:t>RandomForestClassifier</a:t>
            </a:r>
            <a:r>
              <a:rPr lang="en-US" b="1" dirty="0">
                <a:solidFill>
                  <a:schemeClr val="tx1"/>
                </a:solidFill>
                <a:latin typeface=".SF NS"/>
              </a:rPr>
              <a:t> with</a:t>
            </a:r>
            <a:r>
              <a:rPr lang="fa-IR" b="1" dirty="0">
                <a:solidFill>
                  <a:schemeClr val="tx1"/>
                </a:solidFill>
                <a:effectLst/>
                <a:latin typeface=".SF NS"/>
              </a:rPr>
              <a:t> </a:t>
            </a:r>
            <a:r>
              <a:rPr lang="en-US" b="1" dirty="0" err="1">
                <a:solidFill>
                  <a:schemeClr val="tx1"/>
                </a:solidFill>
                <a:effectLst/>
                <a:latin typeface=".SF NS"/>
              </a:rPr>
              <a:t>class_weight</a:t>
            </a:r>
            <a:r>
              <a:rPr lang="en-US" b="1" dirty="0">
                <a:solidFill>
                  <a:schemeClr val="tx1"/>
                </a:solidFill>
                <a:effectLst/>
                <a:latin typeface=".SF NS"/>
              </a:rPr>
              <a:t>='balanced’</a:t>
            </a:r>
          </a:p>
          <a:p>
            <a:endParaRPr lang="en-US" b="1" dirty="0">
              <a:solidFill>
                <a:schemeClr val="tx1"/>
              </a:solidFill>
              <a:latin typeface=".SF NS"/>
            </a:endParaRPr>
          </a:p>
          <a:p>
            <a:r>
              <a:rPr lang="en-US" b="1" dirty="0">
                <a:solidFill>
                  <a:schemeClr val="tx1"/>
                </a:solidFill>
                <a:effectLst/>
                <a:latin typeface=".SF NS"/>
              </a:rPr>
              <a:t>Why ? </a:t>
            </a:r>
          </a:p>
          <a:p>
            <a:endParaRPr lang="en-US" dirty="0"/>
          </a:p>
        </p:txBody>
      </p:sp>
    </p:spTree>
    <p:extLst>
      <p:ext uri="{BB962C8B-B14F-4D97-AF65-F5344CB8AC3E}">
        <p14:creationId xmlns:p14="http://schemas.microsoft.com/office/powerpoint/2010/main" val="148548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1858-53C0-E802-95E8-1795BD7CF975}"/>
              </a:ext>
            </a:extLst>
          </p:cNvPr>
          <p:cNvSpPr>
            <a:spLocks noGrp="1"/>
          </p:cNvSpPr>
          <p:nvPr>
            <p:ph type="title"/>
          </p:nvPr>
        </p:nvSpPr>
        <p:spPr>
          <a:xfrm>
            <a:off x="1006839" y="96635"/>
            <a:ext cx="10178322" cy="1492132"/>
          </a:xfrm>
        </p:spPr>
        <p:txBody>
          <a:bodyPr>
            <a:normAutofit/>
          </a:bodyPr>
          <a:lstStyle/>
          <a:p>
            <a:r>
              <a:rPr lang="en-US" b="1" dirty="0">
                <a:effectLst/>
                <a:latin typeface=".SF NS"/>
              </a:rPr>
              <a:t>Handling Class Imbalance(1):</a:t>
            </a:r>
            <a:br>
              <a:rPr lang="en-US" dirty="0">
                <a:effectLst/>
                <a:latin typeface=".SF NS Semibold"/>
              </a:rPr>
            </a:br>
            <a:endParaRPr lang="en-US" dirty="0"/>
          </a:p>
        </p:txBody>
      </p:sp>
      <p:sp>
        <p:nvSpPr>
          <p:cNvPr id="3" name="Content Placeholder 2">
            <a:extLst>
              <a:ext uri="{FF2B5EF4-FFF2-40B4-BE49-F238E27FC236}">
                <a16:creationId xmlns:a16="http://schemas.microsoft.com/office/drawing/2014/main" id="{9F8951A3-1AF2-98AA-678D-06F5E72B5CBD}"/>
              </a:ext>
            </a:extLst>
          </p:cNvPr>
          <p:cNvSpPr>
            <a:spLocks noGrp="1"/>
          </p:cNvSpPr>
          <p:nvPr>
            <p:ph idx="1"/>
          </p:nvPr>
        </p:nvSpPr>
        <p:spPr>
          <a:xfrm>
            <a:off x="1246869" y="854128"/>
            <a:ext cx="8708661" cy="1867662"/>
          </a:xfrm>
        </p:spPr>
        <p:txBody>
          <a:bodyPr>
            <a:noAutofit/>
          </a:bodyPr>
          <a:lstStyle/>
          <a:p>
            <a:r>
              <a:rPr lang="en-US" sz="1800" b="1" dirty="0">
                <a:effectLst/>
                <a:latin typeface=".SF NS"/>
              </a:rPr>
              <a:t>    Class Imbalance in Employee Attrition Dataset</a:t>
            </a:r>
          </a:p>
          <a:p>
            <a:r>
              <a:rPr lang="en-US" sz="1800" b="1" dirty="0">
                <a:effectLst/>
                <a:latin typeface=".SF NS"/>
              </a:rPr>
              <a:t>    Problem Identified</a:t>
            </a:r>
            <a:endParaRPr lang="en-US" sz="1800" b="1" dirty="0">
              <a:effectLst/>
              <a:latin typeface=".SF NS Semibold"/>
            </a:endParaRPr>
          </a:p>
          <a:p>
            <a:r>
              <a:rPr lang="en-US" sz="1800" b="1" dirty="0">
                <a:effectLst/>
                <a:latin typeface=".SF NS"/>
              </a:rPr>
              <a:t>    The target variable (</a:t>
            </a:r>
            <a:r>
              <a:rPr lang="en-US" sz="1800" b="1" dirty="0" err="1">
                <a:effectLst/>
                <a:latin typeface=".SF NS"/>
              </a:rPr>
              <a:t>LeftCompany</a:t>
            </a:r>
            <a:r>
              <a:rPr lang="en-US" sz="1800" b="1" dirty="0">
                <a:effectLst/>
                <a:latin typeface=".SF NS"/>
              </a:rPr>
              <a:t>) was highly imbalanced.</a:t>
            </a:r>
          </a:p>
          <a:p>
            <a:r>
              <a:rPr lang="en-US" sz="1800" b="1" dirty="0">
                <a:effectLst/>
                <a:latin typeface=".SF NS"/>
              </a:rPr>
              <a:t>    Majority of employees = 0 (Stayed)</a:t>
            </a:r>
          </a:p>
          <a:p>
            <a:r>
              <a:rPr lang="en-US" sz="1800" b="1" dirty="0">
                <a:effectLst/>
                <a:latin typeface=".SF NS"/>
              </a:rPr>
              <a:t>    Minority of employees = 1 (Left)</a:t>
            </a:r>
          </a:p>
          <a:p>
            <a:r>
              <a:rPr lang="en-US" sz="1800" b="1" dirty="0">
                <a:effectLst/>
                <a:latin typeface=".SF NS"/>
              </a:rPr>
              <a:t>     This caused the model to learn patterns only from the majority class.</a:t>
            </a:r>
          </a:p>
          <a:p>
            <a:r>
              <a:rPr lang="en-US" sz="1800" b="1" dirty="0">
                <a:effectLst/>
                <a:latin typeface=".SF NS"/>
              </a:rPr>
              <a:t>     Why This Is a Serious Issue</a:t>
            </a:r>
            <a:endParaRPr lang="en-US" sz="1800" b="1" dirty="0">
              <a:effectLst/>
              <a:latin typeface=".SF NS Semibold"/>
            </a:endParaRPr>
          </a:p>
          <a:p>
            <a:r>
              <a:rPr lang="en-US" sz="1800" b="1" dirty="0">
                <a:effectLst/>
                <a:latin typeface=".SF NS"/>
              </a:rPr>
              <a:t>     A model can achieve high accuracy simply by predicting “No Attrition” every time.</a:t>
            </a:r>
          </a:p>
          <a:p>
            <a:r>
              <a:rPr lang="en-US" sz="1800" b="1" dirty="0">
                <a:effectLst/>
                <a:latin typeface=".SF NS"/>
              </a:rPr>
              <a:t>      However, the business goal is to identify employees who are at risk of leaving, not        just those who stay.</a:t>
            </a:r>
          </a:p>
          <a:p>
            <a:r>
              <a:rPr lang="en-US" sz="1800" b="1" dirty="0">
                <a:effectLst/>
                <a:latin typeface=".SF NS"/>
              </a:rPr>
              <a:t>     Imbalanced data leads to:</a:t>
            </a:r>
          </a:p>
          <a:p>
            <a:r>
              <a:rPr lang="en-US" sz="1800" b="1" dirty="0">
                <a:effectLst/>
                <a:latin typeface=".SF NS"/>
              </a:rPr>
              <a:t>     Low recall for the minority class</a:t>
            </a:r>
            <a:endParaRPr lang="en-US" sz="1800" b="1" dirty="0">
              <a:effectLst/>
              <a:latin typeface=".SF NS Semibold"/>
            </a:endParaRPr>
          </a:p>
          <a:p>
            <a:r>
              <a:rPr lang="en-US" sz="1800" b="1" dirty="0">
                <a:effectLst/>
                <a:latin typeface=".SF NS"/>
              </a:rPr>
              <a:t>     Poor detection of true attrition cases</a:t>
            </a:r>
            <a:endParaRPr lang="en-US" sz="1800" b="1" dirty="0">
              <a:effectLst/>
              <a:latin typeface=".SF NS Semibold"/>
            </a:endParaRPr>
          </a:p>
          <a:p>
            <a:r>
              <a:rPr lang="en-US" sz="1800" b="1" dirty="0">
                <a:effectLst/>
                <a:latin typeface=".SF NS"/>
              </a:rPr>
              <a:t>      Misleading accuracy scores</a:t>
            </a:r>
          </a:p>
          <a:p>
            <a:r>
              <a:rPr lang="en-US" sz="1800" b="1" dirty="0">
                <a:effectLst/>
                <a:latin typeface=".SF NS"/>
              </a:rPr>
              <a:t>      Solutions Applied</a:t>
            </a:r>
          </a:p>
          <a:p>
            <a:pPr marL="0" indent="0">
              <a:buNone/>
            </a:pPr>
            <a:endParaRPr lang="en-US" sz="1800" b="1" dirty="0"/>
          </a:p>
        </p:txBody>
      </p:sp>
    </p:spTree>
    <p:extLst>
      <p:ext uri="{BB962C8B-B14F-4D97-AF65-F5344CB8AC3E}">
        <p14:creationId xmlns:p14="http://schemas.microsoft.com/office/powerpoint/2010/main" val="39177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BF255-4B58-4C98-07F9-02B9E878B340}"/>
              </a:ext>
            </a:extLst>
          </p:cNvPr>
          <p:cNvSpPr>
            <a:spLocks noGrp="1"/>
          </p:cNvSpPr>
          <p:nvPr>
            <p:ph type="title"/>
          </p:nvPr>
        </p:nvSpPr>
        <p:spPr/>
        <p:txBody>
          <a:bodyPr/>
          <a:lstStyle/>
          <a:p>
            <a:r>
              <a:rPr lang="en-US" dirty="0"/>
              <a:t>Handling class imbalance(2):</a:t>
            </a:r>
          </a:p>
        </p:txBody>
      </p:sp>
      <p:sp>
        <p:nvSpPr>
          <p:cNvPr id="3" name="Content Placeholder 2">
            <a:extLst>
              <a:ext uri="{FF2B5EF4-FFF2-40B4-BE49-F238E27FC236}">
                <a16:creationId xmlns:a16="http://schemas.microsoft.com/office/drawing/2014/main" id="{88735E3E-9B19-86A2-413D-D82FDB11284C}"/>
              </a:ext>
            </a:extLst>
          </p:cNvPr>
          <p:cNvSpPr>
            <a:spLocks noGrp="1"/>
          </p:cNvSpPr>
          <p:nvPr>
            <p:ph idx="1"/>
          </p:nvPr>
        </p:nvSpPr>
        <p:spPr/>
        <p:txBody>
          <a:bodyPr>
            <a:normAutofit fontScale="92500" lnSpcReduction="20000"/>
          </a:bodyPr>
          <a:lstStyle/>
          <a:p>
            <a:r>
              <a:rPr lang="en-US" sz="2000" dirty="0">
                <a:effectLst/>
                <a:latin typeface=".SF NS"/>
              </a:rPr>
              <a:t>     ✔ Used </a:t>
            </a:r>
            <a:r>
              <a:rPr lang="en-US" sz="2000" dirty="0" err="1">
                <a:solidFill>
                  <a:srgbClr val="FF0000"/>
                </a:solidFill>
                <a:effectLst/>
                <a:latin typeface=".SF NS"/>
              </a:rPr>
              <a:t>class_weight</a:t>
            </a:r>
            <a:r>
              <a:rPr lang="en-US" sz="2000" dirty="0">
                <a:solidFill>
                  <a:srgbClr val="FF0000"/>
                </a:solidFill>
                <a:effectLst/>
                <a:latin typeface=".SF NS"/>
              </a:rPr>
              <a:t>='balanced</a:t>
            </a:r>
            <a:r>
              <a:rPr lang="en-US" sz="2000" dirty="0">
                <a:effectLst/>
                <a:latin typeface=".SF NS"/>
              </a:rPr>
              <a:t>' in </a:t>
            </a:r>
            <a:r>
              <a:rPr lang="en-US" sz="2000" dirty="0" err="1">
                <a:effectLst/>
                <a:latin typeface=".SF NS"/>
              </a:rPr>
              <a:t>RandomForest</a:t>
            </a:r>
            <a:endParaRPr lang="en-US" sz="2000" dirty="0">
              <a:effectLst/>
              <a:latin typeface=".SF NS Semibold"/>
            </a:endParaRPr>
          </a:p>
          <a:p>
            <a:r>
              <a:rPr lang="en-US" sz="2000" dirty="0">
                <a:effectLst/>
                <a:latin typeface=".SF NS"/>
              </a:rPr>
              <a:t>      Automatically increases the weight of the minority class based on its frequency.</a:t>
            </a:r>
          </a:p>
          <a:p>
            <a:r>
              <a:rPr lang="en-US" sz="2000" dirty="0">
                <a:effectLst/>
                <a:latin typeface=".SF NS"/>
              </a:rPr>
              <a:t>      ✔ Evaluated model with Recall &amp; F1-score instead of Accuracy</a:t>
            </a:r>
            <a:endParaRPr lang="en-US" sz="2000" dirty="0">
              <a:effectLst/>
              <a:latin typeface=".SF NS Semibold"/>
            </a:endParaRPr>
          </a:p>
          <a:p>
            <a:r>
              <a:rPr lang="en-US" sz="2000" dirty="0">
                <a:effectLst/>
                <a:latin typeface=".SF NS"/>
              </a:rPr>
              <a:t>      Because predicting class “1” is more important.</a:t>
            </a:r>
          </a:p>
          <a:p>
            <a:r>
              <a:rPr lang="en-US" sz="2000" dirty="0">
                <a:effectLst/>
                <a:latin typeface=".SF NS"/>
              </a:rPr>
              <a:t>      ✔ (Optional) SMOTE oversampling for future improvement</a:t>
            </a:r>
          </a:p>
          <a:p>
            <a:r>
              <a:rPr lang="en-US" sz="2000" dirty="0">
                <a:effectLst/>
                <a:latin typeface=".SF NS"/>
              </a:rPr>
              <a:t>      Can synthetically balance the minority class.</a:t>
            </a:r>
          </a:p>
          <a:p>
            <a:r>
              <a:rPr lang="en-US" sz="2000" dirty="0">
                <a:effectLst/>
                <a:latin typeface=".SF NS"/>
              </a:rPr>
              <a:t>      Outcome</a:t>
            </a:r>
            <a:endParaRPr lang="en-US" sz="2000" dirty="0">
              <a:effectLst/>
              <a:latin typeface=".SF NS Semibold"/>
            </a:endParaRPr>
          </a:p>
          <a:p>
            <a:r>
              <a:rPr lang="en-US" sz="2000" dirty="0">
                <a:effectLst/>
                <a:latin typeface=".SF NS"/>
              </a:rPr>
              <a:t>      The model improved its ability to predict employees who actually left.</a:t>
            </a:r>
          </a:p>
          <a:p>
            <a:r>
              <a:rPr lang="en-US" sz="2000" dirty="0">
                <a:effectLst/>
                <a:latin typeface=".SF NS"/>
              </a:rPr>
              <a:t>      Recall for class 1 increased, meaning the model is now better at detecting at-risk employees.</a:t>
            </a:r>
          </a:p>
          <a:p>
            <a:r>
              <a:rPr lang="en-US" sz="2000" dirty="0">
                <a:effectLst/>
                <a:latin typeface=".SF NS"/>
              </a:rPr>
              <a:t>      Provides more reliable predictions for HR decision-making.</a:t>
            </a:r>
          </a:p>
          <a:p>
            <a:endParaRPr lang="en-US" dirty="0"/>
          </a:p>
        </p:txBody>
      </p:sp>
    </p:spTree>
    <p:extLst>
      <p:ext uri="{BB962C8B-B14F-4D97-AF65-F5344CB8AC3E}">
        <p14:creationId xmlns:p14="http://schemas.microsoft.com/office/powerpoint/2010/main" val="2696181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E9DF-AF4D-0690-22F9-4F258B88FCD8}"/>
              </a:ext>
            </a:extLst>
          </p:cNvPr>
          <p:cNvSpPr>
            <a:spLocks noGrp="1"/>
          </p:cNvSpPr>
          <p:nvPr>
            <p:ph type="title"/>
          </p:nvPr>
        </p:nvSpPr>
        <p:spPr/>
        <p:txBody>
          <a:bodyPr/>
          <a:lstStyle/>
          <a:p>
            <a:r>
              <a:rPr lang="en-US" dirty="0"/>
              <a:t>Low Quality models :</a:t>
            </a:r>
          </a:p>
        </p:txBody>
      </p:sp>
      <p:pic>
        <p:nvPicPr>
          <p:cNvPr id="5" name="Content Placeholder 4" descr="A screenshot of a computer&#10;&#10;Description automatically generated">
            <a:extLst>
              <a:ext uri="{FF2B5EF4-FFF2-40B4-BE49-F238E27FC236}">
                <a16:creationId xmlns:a16="http://schemas.microsoft.com/office/drawing/2014/main" id="{436A7CF7-F05F-A00B-27AA-DD6993948C51}"/>
              </a:ext>
            </a:extLst>
          </p:cNvPr>
          <p:cNvPicPr>
            <a:picLocks noGrp="1" noChangeAspect="1"/>
          </p:cNvPicPr>
          <p:nvPr>
            <p:ph idx="1"/>
          </p:nvPr>
        </p:nvPicPr>
        <p:blipFill>
          <a:blip r:embed="rId2"/>
          <a:srcRect t="19974" b="12967"/>
          <a:stretch/>
        </p:blipFill>
        <p:spPr>
          <a:xfrm>
            <a:off x="1251678" y="3789565"/>
            <a:ext cx="5446302" cy="2686050"/>
          </a:xfrm>
        </p:spPr>
      </p:pic>
      <p:sp>
        <p:nvSpPr>
          <p:cNvPr id="6" name="TextBox 5">
            <a:extLst>
              <a:ext uri="{FF2B5EF4-FFF2-40B4-BE49-F238E27FC236}">
                <a16:creationId xmlns:a16="http://schemas.microsoft.com/office/drawing/2014/main" id="{EB151F3C-9D7C-00F9-D595-7D0D9487790F}"/>
              </a:ext>
            </a:extLst>
          </p:cNvPr>
          <p:cNvSpPr txBox="1"/>
          <p:nvPr/>
        </p:nvSpPr>
        <p:spPr>
          <a:xfrm>
            <a:off x="1863937" y="1569125"/>
            <a:ext cx="6672580" cy="2031325"/>
          </a:xfrm>
          <a:prstGeom prst="rect">
            <a:avLst/>
          </a:prstGeom>
          <a:noFill/>
        </p:spPr>
        <p:txBody>
          <a:bodyPr wrap="square" rtlCol="0">
            <a:spAutoFit/>
          </a:bodyPr>
          <a:lstStyle/>
          <a:p>
            <a:r>
              <a:rPr lang="en-US" dirty="0">
                <a:effectLst/>
                <a:latin typeface=".SF NS"/>
              </a:rPr>
              <a:t>Before balancing the dataset, most models achieved moderate accuracy but completely failed to detect employees who actually left the company.</a:t>
            </a:r>
          </a:p>
          <a:p>
            <a:r>
              <a:rPr lang="en-US" dirty="0">
                <a:effectLst/>
                <a:latin typeface=".SF NS"/>
              </a:rPr>
              <a:t>Precision, recall and F1-score for the minority class (</a:t>
            </a:r>
            <a:r>
              <a:rPr lang="en-US" dirty="0" err="1">
                <a:effectLst/>
                <a:latin typeface=".SF NS"/>
              </a:rPr>
              <a:t>LeftCompany</a:t>
            </a:r>
            <a:r>
              <a:rPr lang="en-US" dirty="0">
                <a:effectLst/>
                <a:latin typeface=".SF NS"/>
              </a:rPr>
              <a:t> = 1) were close to zero.</a:t>
            </a:r>
          </a:p>
          <a:p>
            <a:r>
              <a:rPr lang="en-US" dirty="0">
                <a:effectLst/>
                <a:latin typeface=".SF NS"/>
              </a:rPr>
              <a:t>This shows that the models were biased toward the majority class and mostly predicted “employee stays”.</a:t>
            </a:r>
          </a:p>
        </p:txBody>
      </p:sp>
      <p:sp>
        <p:nvSpPr>
          <p:cNvPr id="7" name="Explosion 1 6">
            <a:extLst>
              <a:ext uri="{FF2B5EF4-FFF2-40B4-BE49-F238E27FC236}">
                <a16:creationId xmlns:a16="http://schemas.microsoft.com/office/drawing/2014/main" id="{31E8045A-4C6A-30E1-6D4E-6E4573C3BA4E}"/>
              </a:ext>
            </a:extLst>
          </p:cNvPr>
          <p:cNvSpPr/>
          <p:nvPr/>
        </p:nvSpPr>
        <p:spPr>
          <a:xfrm>
            <a:off x="1055735" y="1541796"/>
            <a:ext cx="704485" cy="665442"/>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aph of a graph showing the amount of balance&#10;&#10;Description automatically generated with medium confidence">
            <a:extLst>
              <a:ext uri="{FF2B5EF4-FFF2-40B4-BE49-F238E27FC236}">
                <a16:creationId xmlns:a16="http://schemas.microsoft.com/office/drawing/2014/main" id="{4DF52CCF-536F-3BEE-9C5E-A88F35A1A10B}"/>
              </a:ext>
            </a:extLst>
          </p:cNvPr>
          <p:cNvPicPr>
            <a:picLocks noChangeAspect="1"/>
          </p:cNvPicPr>
          <p:nvPr/>
        </p:nvPicPr>
        <p:blipFill>
          <a:blip r:embed="rId3"/>
          <a:stretch>
            <a:fillRect/>
          </a:stretch>
        </p:blipFill>
        <p:spPr>
          <a:xfrm>
            <a:off x="6697980" y="3789565"/>
            <a:ext cx="5104342" cy="2686050"/>
          </a:xfrm>
          <a:prstGeom prst="rect">
            <a:avLst/>
          </a:prstGeom>
        </p:spPr>
      </p:pic>
    </p:spTree>
    <p:extLst>
      <p:ext uri="{BB962C8B-B14F-4D97-AF65-F5344CB8AC3E}">
        <p14:creationId xmlns:p14="http://schemas.microsoft.com/office/powerpoint/2010/main" val="921770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A294-4847-1144-3215-CDFAF4D95A8C}"/>
              </a:ext>
            </a:extLst>
          </p:cNvPr>
          <p:cNvSpPr>
            <a:spLocks noGrp="1"/>
          </p:cNvSpPr>
          <p:nvPr>
            <p:ph type="title"/>
          </p:nvPr>
        </p:nvSpPr>
        <p:spPr/>
        <p:txBody>
          <a:bodyPr>
            <a:normAutofit/>
          </a:bodyPr>
          <a:lstStyle/>
          <a:p>
            <a:r>
              <a:rPr lang="en-US" sz="5000" dirty="0"/>
              <a:t>Before after (visual comparison)</a:t>
            </a:r>
          </a:p>
        </p:txBody>
      </p:sp>
      <p:sp>
        <p:nvSpPr>
          <p:cNvPr id="3" name="Content Placeholder 2">
            <a:extLst>
              <a:ext uri="{FF2B5EF4-FFF2-40B4-BE49-F238E27FC236}">
                <a16:creationId xmlns:a16="http://schemas.microsoft.com/office/drawing/2014/main" id="{37F62599-4CB2-3AC0-B538-3B69350D798B}"/>
              </a:ext>
            </a:extLst>
          </p:cNvPr>
          <p:cNvSpPr>
            <a:spLocks noGrp="1"/>
          </p:cNvSpPr>
          <p:nvPr>
            <p:ph idx="1"/>
          </p:nvPr>
        </p:nvSpPr>
        <p:spPr>
          <a:xfrm>
            <a:off x="1103088" y="1508761"/>
            <a:ext cx="10178322" cy="3593591"/>
          </a:xfrm>
        </p:spPr>
        <p:txBody>
          <a:bodyPr/>
          <a:lstStyle/>
          <a:p>
            <a:r>
              <a:rPr lang="en-US" b="1" dirty="0">
                <a:effectLst/>
                <a:latin typeface=".SF NS"/>
              </a:rPr>
              <a:t>Balancing the data with SMOTE and using </a:t>
            </a:r>
            <a:r>
              <a:rPr lang="en-US" b="1" dirty="0" err="1">
                <a:effectLst/>
                <a:latin typeface=".SF NS"/>
              </a:rPr>
              <a:t>CatBoost</a:t>
            </a:r>
            <a:r>
              <a:rPr lang="en-US" b="1" dirty="0">
                <a:effectLst/>
                <a:latin typeface=".SF NS"/>
              </a:rPr>
              <a:t> significantly improved the model’s ability to detect employees at risk of leaving, compared to all other baseline models.”</a:t>
            </a:r>
          </a:p>
          <a:p>
            <a:endParaRPr lang="en-US" b="1" dirty="0">
              <a:latin typeface=".SF NS"/>
            </a:endParaRPr>
          </a:p>
          <a:p>
            <a:endParaRPr lang="en-US" b="1" dirty="0">
              <a:effectLst/>
              <a:latin typeface=".SF NS"/>
            </a:endParaRPr>
          </a:p>
          <a:p>
            <a:endParaRPr lang="en-US" b="1" dirty="0"/>
          </a:p>
        </p:txBody>
      </p:sp>
      <p:pic>
        <p:nvPicPr>
          <p:cNvPr id="6" name="Picture 5" descr="A graph of a performance&#10;&#10;Description automatically generated with medium confidence">
            <a:extLst>
              <a:ext uri="{FF2B5EF4-FFF2-40B4-BE49-F238E27FC236}">
                <a16:creationId xmlns:a16="http://schemas.microsoft.com/office/drawing/2014/main" id="{23A4E402-6043-188E-B538-0869EA576E9C}"/>
              </a:ext>
            </a:extLst>
          </p:cNvPr>
          <p:cNvPicPr>
            <a:picLocks noChangeAspect="1"/>
          </p:cNvPicPr>
          <p:nvPr/>
        </p:nvPicPr>
        <p:blipFill>
          <a:blip r:embed="rId2"/>
          <a:stretch>
            <a:fillRect/>
          </a:stretch>
        </p:blipFill>
        <p:spPr>
          <a:xfrm>
            <a:off x="2434590" y="2424820"/>
            <a:ext cx="6332220" cy="3152822"/>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BA1F4FB8-1568-9B8D-C736-B5D8B60F65F5}"/>
              </a:ext>
            </a:extLst>
          </p:cNvPr>
          <p:cNvPicPr>
            <a:picLocks noChangeAspect="1"/>
          </p:cNvPicPr>
          <p:nvPr/>
        </p:nvPicPr>
        <p:blipFill rotWithShape="1">
          <a:blip r:embed="rId3"/>
          <a:srcRect l="8800" t="23443" r="16480" b="52445"/>
          <a:stretch/>
        </p:blipFill>
        <p:spPr>
          <a:xfrm>
            <a:off x="2434590" y="5652655"/>
            <a:ext cx="6217919" cy="822960"/>
          </a:xfrm>
          <a:prstGeom prst="rect">
            <a:avLst/>
          </a:prstGeom>
        </p:spPr>
      </p:pic>
    </p:spTree>
    <p:extLst>
      <p:ext uri="{BB962C8B-B14F-4D97-AF65-F5344CB8AC3E}">
        <p14:creationId xmlns:p14="http://schemas.microsoft.com/office/powerpoint/2010/main" val="15770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FA2BE-78F0-A61C-2E84-E2F0F6DB7269}"/>
              </a:ext>
            </a:extLst>
          </p:cNvPr>
          <p:cNvSpPr>
            <a:spLocks noGrp="1"/>
          </p:cNvSpPr>
          <p:nvPr>
            <p:ph type="title"/>
          </p:nvPr>
        </p:nvSpPr>
        <p:spPr/>
        <p:txBody>
          <a:bodyPr>
            <a:normAutofit/>
          </a:bodyPr>
          <a:lstStyle/>
          <a:p>
            <a:r>
              <a:rPr lang="en-US" dirty="0"/>
              <a:t>Project conclusion :</a:t>
            </a:r>
          </a:p>
        </p:txBody>
      </p:sp>
      <p:sp>
        <p:nvSpPr>
          <p:cNvPr id="3" name="Content Placeholder 2">
            <a:extLst>
              <a:ext uri="{FF2B5EF4-FFF2-40B4-BE49-F238E27FC236}">
                <a16:creationId xmlns:a16="http://schemas.microsoft.com/office/drawing/2014/main" id="{A65BD826-7F2F-2D7E-623E-C765995F90E5}"/>
              </a:ext>
            </a:extLst>
          </p:cNvPr>
          <p:cNvSpPr>
            <a:spLocks noGrp="1"/>
          </p:cNvSpPr>
          <p:nvPr>
            <p:ph idx="1"/>
          </p:nvPr>
        </p:nvSpPr>
        <p:spPr>
          <a:xfrm>
            <a:off x="1251678" y="1632204"/>
            <a:ext cx="10178322" cy="3593591"/>
          </a:xfrm>
        </p:spPr>
        <p:txBody>
          <a:bodyPr/>
          <a:lstStyle/>
          <a:p>
            <a:pPr marL="0" indent="0">
              <a:buNone/>
            </a:pPr>
            <a:r>
              <a:rPr lang="en-US" b="1" dirty="0">
                <a:solidFill>
                  <a:schemeClr val="tx1"/>
                </a:solidFill>
                <a:effectLst/>
                <a:latin typeface=".SF NS"/>
              </a:rPr>
              <a:t>•  A significant portion of senior employees with long tenure were earning lower hourly wages compared to younger groups.</a:t>
            </a:r>
          </a:p>
          <a:p>
            <a:pPr marL="0" indent="0">
              <a:buNone/>
            </a:pPr>
            <a:r>
              <a:rPr lang="en-US" b="1" dirty="0">
                <a:solidFill>
                  <a:schemeClr val="tx1"/>
                </a:solidFill>
                <a:effectLst/>
                <a:latin typeface=".SF NS"/>
              </a:rPr>
              <a:t>• Overworked employees (high weekly hours) showed the highest dissatisfaction and were more likely to leave.</a:t>
            </a:r>
          </a:p>
          <a:p>
            <a:pPr marL="0" indent="0">
              <a:buNone/>
            </a:pPr>
            <a:r>
              <a:rPr lang="en-US" b="1" dirty="0">
                <a:solidFill>
                  <a:schemeClr val="tx1"/>
                </a:solidFill>
                <a:effectLst/>
                <a:latin typeface=".SF NS"/>
              </a:rPr>
              <a:t>• Some departments had consistently lower salary-per-hour levels, contributing to attrition risk.</a:t>
            </a:r>
          </a:p>
          <a:p>
            <a:pPr marL="0" indent="0">
              <a:buNone/>
            </a:pPr>
            <a:r>
              <a:rPr lang="en-US" b="1" dirty="0">
                <a:solidFill>
                  <a:schemeClr val="tx1"/>
                </a:solidFill>
                <a:effectLst/>
                <a:latin typeface=".SF NS"/>
              </a:rPr>
              <a:t>• Gender distribution showed no major imbalance, but salary distribution across age groups did.</a:t>
            </a:r>
          </a:p>
          <a:p>
            <a:endParaRPr lang="en-US" dirty="0"/>
          </a:p>
        </p:txBody>
      </p:sp>
      <p:pic>
        <p:nvPicPr>
          <p:cNvPr id="6" name="Graphic 5" descr="Bar graph with upward trend with solid fill">
            <a:extLst>
              <a:ext uri="{FF2B5EF4-FFF2-40B4-BE49-F238E27FC236}">
                <a16:creationId xmlns:a16="http://schemas.microsoft.com/office/drawing/2014/main" id="{7B07059D-4B22-9046-3E6F-0AA3744EE0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91010" y="4411092"/>
            <a:ext cx="1961332" cy="1961332"/>
          </a:xfrm>
          <a:prstGeom prst="rect">
            <a:avLst/>
          </a:prstGeom>
        </p:spPr>
      </p:pic>
    </p:spTree>
    <p:extLst>
      <p:ext uri="{BB962C8B-B14F-4D97-AF65-F5344CB8AC3E}">
        <p14:creationId xmlns:p14="http://schemas.microsoft.com/office/powerpoint/2010/main" val="25181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B26F-9100-BE41-A8A1-E8FE4838BF4F}"/>
              </a:ext>
            </a:extLst>
          </p:cNvPr>
          <p:cNvSpPr>
            <a:spLocks noGrp="1"/>
          </p:cNvSpPr>
          <p:nvPr>
            <p:ph type="title"/>
          </p:nvPr>
        </p:nvSpPr>
        <p:spPr/>
        <p:txBody>
          <a:bodyPr>
            <a:normAutofit fontScale="90000"/>
          </a:bodyPr>
          <a:lstStyle/>
          <a:p>
            <a:r>
              <a:rPr lang="en-US" dirty="0"/>
              <a:t>                           </a:t>
            </a:r>
            <a:br>
              <a:rPr lang="en-US" dirty="0"/>
            </a:br>
            <a:r>
              <a:rPr lang="en-US" sz="8800" dirty="0"/>
              <a:t>                  Q&amp;A</a:t>
            </a:r>
          </a:p>
        </p:txBody>
      </p:sp>
      <p:sp>
        <p:nvSpPr>
          <p:cNvPr id="3" name="Content Placeholder 2">
            <a:extLst>
              <a:ext uri="{FF2B5EF4-FFF2-40B4-BE49-F238E27FC236}">
                <a16:creationId xmlns:a16="http://schemas.microsoft.com/office/drawing/2014/main" id="{48F8058F-F65A-2739-FAAB-590EA7EA2C42}"/>
              </a:ext>
            </a:extLst>
          </p:cNvPr>
          <p:cNvSpPr>
            <a:spLocks noGrp="1"/>
          </p:cNvSpPr>
          <p:nvPr>
            <p:ph idx="1"/>
          </p:nvPr>
        </p:nvSpPr>
        <p:spPr/>
        <p:txBody>
          <a:bodyPr/>
          <a:lstStyle/>
          <a:p>
            <a:endParaRPr lang="en-US" sz="4000" b="1" dirty="0"/>
          </a:p>
          <a:p>
            <a:endParaRPr lang="en-US" sz="4000" b="1" dirty="0"/>
          </a:p>
          <a:p>
            <a:pPr marL="0" indent="0">
              <a:buNone/>
            </a:pPr>
            <a:r>
              <a:rPr lang="en-US" sz="4000" b="1" dirty="0"/>
              <a:t>       THANK YOU,  ANY QUESTION ? </a:t>
            </a:r>
          </a:p>
          <a:p>
            <a:endParaRPr lang="en-US" dirty="0"/>
          </a:p>
        </p:txBody>
      </p:sp>
    </p:spTree>
    <p:extLst>
      <p:ext uri="{BB962C8B-B14F-4D97-AF65-F5344CB8AC3E}">
        <p14:creationId xmlns:p14="http://schemas.microsoft.com/office/powerpoint/2010/main" val="408326890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156</TotalTime>
  <Words>1064</Words>
  <Application>Microsoft Macintosh PowerPoint</Application>
  <PresentationFormat>Widescreen</PresentationFormat>
  <Paragraphs>84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.SF NS</vt:lpstr>
      <vt:lpstr>.SF NS Semibold</vt:lpstr>
      <vt:lpstr>Apple Braille</vt:lpstr>
      <vt:lpstr>Arial</vt:lpstr>
      <vt:lpstr>Copperplate Gothic Bold</vt:lpstr>
      <vt:lpstr>Gill Sans MT</vt:lpstr>
      <vt:lpstr>Impact</vt:lpstr>
      <vt:lpstr>Badge</vt:lpstr>
      <vt:lpstr>People Insights Corp   Workforce Analytics Project </vt:lpstr>
      <vt:lpstr>Project Overview :  </vt:lpstr>
      <vt:lpstr>Dataset summary :</vt:lpstr>
      <vt:lpstr>Exploratory Data Analysis (EDA) </vt:lpstr>
      <vt:lpstr>FEATURE ENGINEERING</vt:lpstr>
      <vt:lpstr>PROJECT SUMMARY:</vt:lpstr>
      <vt:lpstr>PowerPoint Presentation</vt:lpstr>
      <vt:lpstr>Salary by aGE cLASS:</vt:lpstr>
      <vt:lpstr>The Y-axis represents the number of employees in each salary-per-hour category. </vt:lpstr>
      <vt:lpstr>Modeling Approach</vt:lpstr>
      <vt:lpstr>Handling Class Imbalance(1): </vt:lpstr>
      <vt:lpstr>Handling class imbalance(2):</vt:lpstr>
      <vt:lpstr>Low Quality models :</vt:lpstr>
      <vt:lpstr>Before after (visual comparison)</vt:lpstr>
      <vt:lpstr>Project conclusion :</vt:lpstr>
      <vt:lpstr>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Sasan bayani</dc:creator>
  <cp:lastModifiedBy>Sasan bayani</cp:lastModifiedBy>
  <cp:revision>2</cp:revision>
  <dcterms:created xsi:type="dcterms:W3CDTF">2025-12-05T21:47:53Z</dcterms:created>
  <dcterms:modified xsi:type="dcterms:W3CDTF">2025-12-06T11:17:04Z</dcterms:modified>
</cp:coreProperties>
</file>